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7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21160F"/>
          </a:solidFill>
          <a:ln w="12700">
            <a:solidFill>
              <a:srgbClr val="2116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0" cy="73152"/>
          </a:xfrm>
          <a:prstGeom prst="rect">
            <a:avLst/>
          </a:prstGeom>
          <a:solidFill>
            <a:srgbClr val="B4572D"/>
          </a:solidFill>
          <a:ln w="12700">
            <a:solidFill>
              <a:srgbClr val="B457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45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ETSYPULSE  ·  AUTONOMOUS MARKET DESK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4297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FFF7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signals,</a:t>
            </a:r>
            <a:endParaRPr lang="en-US" sz="36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FFF7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market noise.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11480" y="2340864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FE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shop once. Agents monitor.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FE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actionable briefs land.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32918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EtsyPulse: Autonomous Market Intelligence for Etsy Sellers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4206240"/>
            <a:ext cx="1371600" cy="292608"/>
          </a:xfrm>
          <a:prstGeom prst="roundRect">
            <a:avLst>
              <a:gd name="adj" fmla="val 18750"/>
            </a:avLst>
          </a:prstGeom>
          <a:solidFill>
            <a:srgbClr val="B4572D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42062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Bright Data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92808" y="4206240"/>
            <a:ext cx="1371600" cy="292608"/>
          </a:xfrm>
          <a:prstGeom prst="roundRect">
            <a:avLst>
              <a:gd name="adj" fmla="val 18750"/>
            </a:avLst>
          </a:prstGeom>
          <a:solidFill>
            <a:srgbClr val="78361E"/>
          </a:solidFill>
          <a:ln/>
        </p:spPr>
      </p:sp>
      <p:sp>
        <p:nvSpPr>
          <p:cNvPr id="11" name="Text 9"/>
          <p:cNvSpPr/>
          <p:nvPr/>
        </p:nvSpPr>
        <p:spPr>
          <a:xfrm>
            <a:off x="1892808" y="42062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AI Agents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74136" y="4206240"/>
            <a:ext cx="1371600" cy="292608"/>
          </a:xfrm>
          <a:prstGeom prst="roundRect">
            <a:avLst>
              <a:gd name="adj" fmla="val 18750"/>
            </a:avLst>
          </a:prstGeom>
          <a:solidFill>
            <a:srgbClr val="78361E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42062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React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303520" y="411480"/>
            <a:ext cx="3566160" cy="4343400"/>
          </a:xfrm>
          <a:prstGeom prst="roundRect">
            <a:avLst>
              <a:gd name="adj" fmla="val 3846"/>
            </a:avLst>
          </a:prstGeom>
          <a:solidFill>
            <a:srgbClr val="2A1A10"/>
          </a:solidFill>
          <a:ln/>
          <a:effectLst>
            <a:outerShdw sx="100000" sy="100000" kx="0" ky="0" algn="bl" rotWithShape="0" blurRad="152400" dist="50800" dir="8100000">
              <a:srgbClr val="21160F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504688" y="640080"/>
            <a:ext cx="658368" cy="246888"/>
          </a:xfrm>
          <a:prstGeom prst="roundRect">
            <a:avLst>
              <a:gd name="adj" fmla="val 18519"/>
            </a:avLst>
          </a:prstGeom>
          <a:solidFill>
            <a:srgbClr val="2A4030"/>
          </a:solidFill>
          <a:ln/>
        </p:spPr>
      </p:sp>
      <p:sp>
        <p:nvSpPr>
          <p:cNvPr id="16" name="Text 14"/>
          <p:cNvSpPr/>
          <p:nvPr/>
        </p:nvSpPr>
        <p:spPr>
          <a:xfrm>
            <a:off x="5504688" y="640080"/>
            <a:ext cx="658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F8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36208" y="640080"/>
            <a:ext cx="1005840" cy="246888"/>
          </a:xfrm>
          <a:prstGeom prst="roundRect">
            <a:avLst>
              <a:gd name="adj" fmla="val 18519"/>
            </a:avLst>
          </a:prstGeom>
          <a:solidFill>
            <a:srgbClr val="3A2A10"/>
          </a:solidFill>
          <a:ln/>
        </p:spPr>
      </p:sp>
      <p:sp>
        <p:nvSpPr>
          <p:cNvPr id="18" name="Text 16"/>
          <p:cNvSpPr/>
          <p:nvPr/>
        </p:nvSpPr>
        <p:spPr>
          <a:xfrm>
            <a:off x="6236208" y="64008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9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Judge  82%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504688" y="100584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E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gift positioning on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E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'personalized necklace'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E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act this week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04688" y="198424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Actionability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601968" y="2048256"/>
            <a:ext cx="1691640" cy="91440"/>
          </a:xfrm>
          <a:prstGeom prst="rect">
            <a:avLst/>
          </a:prstGeom>
          <a:solidFill>
            <a:srgbClr val="3A2A18"/>
          </a:solidFill>
          <a:ln w="12700">
            <a:solidFill>
              <a:srgbClr val="3A2A1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01968" y="2048256"/>
            <a:ext cx="1488643" cy="91440"/>
          </a:xfrm>
          <a:prstGeom prst="rect">
            <a:avLst/>
          </a:prstGeom>
          <a:solidFill>
            <a:srgbClr val="B4572D"/>
          </a:solidFill>
          <a:ln w="12700">
            <a:solidFill>
              <a:srgbClr val="B457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21040" y="19842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59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04688" y="2368296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601968" y="2432304"/>
            <a:ext cx="1691640" cy="91440"/>
          </a:xfrm>
          <a:prstGeom prst="rect">
            <a:avLst/>
          </a:prstGeom>
          <a:solidFill>
            <a:srgbClr val="3A2A18"/>
          </a:solidFill>
          <a:ln w="12700">
            <a:solidFill>
              <a:srgbClr val="3A2A1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01968" y="2432304"/>
            <a:ext cx="1251814" cy="91440"/>
          </a:xfrm>
          <a:prstGeom prst="rect">
            <a:avLst/>
          </a:prstGeom>
          <a:solidFill>
            <a:srgbClr val="B4572D"/>
          </a:solidFill>
          <a:ln w="12700">
            <a:solidFill>
              <a:srgbClr val="B457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23682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59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504688" y="2752344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01968" y="2816352"/>
            <a:ext cx="1691640" cy="91440"/>
          </a:xfrm>
          <a:prstGeom prst="rect">
            <a:avLst/>
          </a:prstGeom>
          <a:solidFill>
            <a:srgbClr val="3A2A18"/>
          </a:solidFill>
          <a:ln w="12700">
            <a:solidFill>
              <a:srgbClr val="3A2A1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01968" y="2816352"/>
            <a:ext cx="1420978" cy="91440"/>
          </a:xfrm>
          <a:prstGeom prst="rect">
            <a:avLst/>
          </a:prstGeom>
          <a:solidFill>
            <a:srgbClr val="B4572D"/>
          </a:solidFill>
          <a:ln w="12700">
            <a:solidFill>
              <a:srgbClr val="B4572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21040" y="275234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59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04688" y="32461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06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504688" y="350215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Update listing titles with gift-occasion keywords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504688" y="374904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Refresh hero photos with gift-ready styling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504688" y="399592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Create a curated gift bundle collection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504688" y="43616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full brief  →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7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4572D"/>
          </a:solidFill>
          <a:ln w="12700">
            <a:solidFill>
              <a:srgbClr val="B457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B45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21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Etsy sellers are swimming in signals, drowning in tabs.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02336" y="1499616"/>
            <a:ext cx="2606040" cy="2468880"/>
          </a:xfrm>
          <a:prstGeom prst="rect">
            <a:avLst/>
          </a:prstGeom>
          <a:solidFill>
            <a:srgbClr val="D4B8A0">
              <a:alpha val="50000"/>
            </a:srgbClr>
          </a:solidFill>
          <a:ln w="12700">
            <a:solidFill>
              <a:srgbClr val="D4B8A0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417320"/>
            <a:ext cx="2606040" cy="2468880"/>
          </a:xfrm>
          <a:prstGeom prst="rect">
            <a:avLst/>
          </a:prstGeom>
          <a:solidFill>
            <a:srgbClr val="21160F"/>
          </a:solidFill>
          <a:ln w="12700">
            <a:solidFill>
              <a:srgbClr val="21160F"/>
            </a:solidFill>
            <a:prstDash val="solid"/>
          </a:ln>
          <a:effectLst>
            <a:outerShdw sx="100000" sy="100000" kx="0" ky="0" algn="bl" rotWithShape="0" blurRad="152400" dist="50800" dir="8100000">
              <a:srgbClr val="21160F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417320"/>
            <a:ext cx="54864" cy="2468880"/>
          </a:xfrm>
          <a:prstGeom prst="rect">
            <a:avLst/>
          </a:prstGeom>
          <a:solidFill>
            <a:srgbClr val="B4572D"/>
          </a:solidFill>
          <a:ln w="12700">
            <a:solidFill>
              <a:srgbClr val="B457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916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7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Competitor repricing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219456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competitors change prices and listings daily.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find out too late.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329184" cy="329184"/>
          </a:xfrm>
          <a:prstGeom prst="ellipse">
            <a:avLst/>
          </a:prstGeom>
          <a:solidFill>
            <a:srgbClr val="B4572D"/>
          </a:solidFill>
          <a:ln w="12700">
            <a:solidFill>
              <a:srgbClr val="B457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383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55264" y="1499616"/>
            <a:ext cx="2606040" cy="2468880"/>
          </a:xfrm>
          <a:prstGeom prst="rect">
            <a:avLst/>
          </a:prstGeom>
          <a:solidFill>
            <a:srgbClr val="D4B8A0">
              <a:alpha val="50000"/>
            </a:srgbClr>
          </a:solidFill>
          <a:ln w="12700">
            <a:solidFill>
              <a:srgbClr val="D4B8A0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417320"/>
            <a:ext cx="2606040" cy="2468880"/>
          </a:xfrm>
          <a:prstGeom prst="rect">
            <a:avLst/>
          </a:prstGeom>
          <a:solidFill>
            <a:srgbClr val="21160F"/>
          </a:solidFill>
          <a:ln w="12700">
            <a:solidFill>
              <a:srgbClr val="21160F"/>
            </a:solidFill>
            <a:prstDash val="solid"/>
          </a:ln>
          <a:effectLst>
            <a:outerShdw sx="100000" sy="100000" kx="0" ky="0" algn="bl" rotWithShape="0" blurRad="152400" dist="50800" dir="8100000">
              <a:srgbClr val="21160F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417320"/>
            <a:ext cx="54864" cy="2468880"/>
          </a:xfrm>
          <a:prstGeom prst="rect">
            <a:avLst/>
          </a:prstGeom>
          <a:solidFill>
            <a:srgbClr val="B4572D"/>
          </a:solidFill>
          <a:ln w="12700">
            <a:solidFill>
              <a:srgbClr val="B457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01568" y="16916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7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 intent shifts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401568" y="219456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keywords evolve with trends.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SERP checks don't scale.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401568" y="3383280"/>
            <a:ext cx="329184" cy="329184"/>
          </a:xfrm>
          <a:prstGeom prst="ellipse">
            <a:avLst/>
          </a:prstGeom>
          <a:solidFill>
            <a:srgbClr val="B4572D"/>
          </a:solidFill>
          <a:ln w="12700">
            <a:solidFill>
              <a:srgbClr val="B457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01568" y="3383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08192" y="1499616"/>
            <a:ext cx="2606040" cy="2468880"/>
          </a:xfrm>
          <a:prstGeom prst="rect">
            <a:avLst/>
          </a:prstGeom>
          <a:solidFill>
            <a:srgbClr val="D4B8A0">
              <a:alpha val="50000"/>
            </a:srgbClr>
          </a:solidFill>
          <a:ln w="12700">
            <a:solidFill>
              <a:srgbClr val="D4B8A0">
                <a:alpha val="5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53328" y="1417320"/>
            <a:ext cx="2606040" cy="2468880"/>
          </a:xfrm>
          <a:prstGeom prst="rect">
            <a:avLst/>
          </a:prstGeom>
          <a:solidFill>
            <a:srgbClr val="21160F"/>
          </a:solidFill>
          <a:ln w="12700">
            <a:solidFill>
              <a:srgbClr val="21160F"/>
            </a:solidFill>
            <a:prstDash val="solid"/>
          </a:ln>
          <a:effectLst>
            <a:outerShdw sx="100000" sy="100000" kx="0" ky="0" algn="bl" rotWithShape="0" blurRad="152400" dist="50800" dir="8100000">
              <a:srgbClr val="21160F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53328" y="1417320"/>
            <a:ext cx="54864" cy="2468880"/>
          </a:xfrm>
          <a:prstGeom prst="rect">
            <a:avLst/>
          </a:prstGeom>
          <a:solidFill>
            <a:srgbClr val="B4572D"/>
          </a:solidFill>
          <a:ln w="12700">
            <a:solidFill>
              <a:srgbClr val="B457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54496" y="16916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7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 trend spikes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254496" y="219456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TikTok, Reddit, Instagram drive Etsy demand.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sellers miss the window.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54496" y="3383280"/>
            <a:ext cx="329184" cy="329184"/>
          </a:xfrm>
          <a:prstGeom prst="ellipse">
            <a:avLst/>
          </a:prstGeom>
          <a:solidFill>
            <a:srgbClr val="B4572D"/>
          </a:solidFill>
          <a:ln w="12700">
            <a:solidFill>
              <a:srgbClr val="B457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54496" y="3383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78361E"/>
          </a:solidFill>
          <a:ln w="12700">
            <a:solidFill>
              <a:srgbClr val="78361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773168"/>
            <a:ext cx="82296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5.6M active Etsy sellers. Zero of them have an always-on market analyst.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7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F8663"/>
          </a:solidFill>
          <a:ln w="12700">
            <a:solidFill>
              <a:srgbClr val="6F86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6F8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shop URL. Seven agents. Only actionable briefs.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83464" y="1389888"/>
            <a:ext cx="1261872" cy="804672"/>
          </a:xfrm>
          <a:prstGeom prst="roundRect">
            <a:avLst>
              <a:gd name="adj" fmla="val 9091"/>
            </a:avLst>
          </a:prstGeom>
          <a:solidFill>
            <a:srgbClr val="21160F"/>
          </a:solidFill>
          <a:ln/>
          <a:effectLst>
            <a:outerShdw sx="100000" sy="100000" kx="0" ky="0" algn="bl" rotWithShape="0" blurRad="152400" dist="50800" dir="8100000">
              <a:srgbClr val="21160F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38328" y="1481328"/>
            <a:ext cx="1152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URL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8328" y="1956816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input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81912" y="1773936"/>
            <a:ext cx="128016" cy="0"/>
          </a:xfrm>
          <a:prstGeom prst="line">
            <a:avLst/>
          </a:prstGeom>
          <a:noFill/>
          <a:ln w="31750">
            <a:solidFill>
              <a:srgbClr val="B457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46504" y="1389888"/>
            <a:ext cx="1261872" cy="804672"/>
          </a:xfrm>
          <a:prstGeom prst="roundRect">
            <a:avLst>
              <a:gd name="adj" fmla="val 9091"/>
            </a:avLst>
          </a:prstGeom>
          <a:solidFill>
            <a:srgbClr val="78361E"/>
          </a:solidFill>
          <a:ln/>
          <a:effectLst>
            <a:outerShdw sx="100000" sy="100000" kx="0" ky="0" algn="bl" rotWithShape="0" blurRad="152400" dist="50800" dir="8100000">
              <a:srgbClr val="21160F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801368" y="1481328"/>
            <a:ext cx="1152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Profile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01368" y="1956816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Data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044952" y="1773936"/>
            <a:ext cx="128016" cy="0"/>
          </a:xfrm>
          <a:prstGeom prst="line">
            <a:avLst/>
          </a:prstGeom>
          <a:noFill/>
          <a:ln w="31750">
            <a:solidFill>
              <a:srgbClr val="B4572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9544" y="1389888"/>
            <a:ext cx="1261872" cy="804672"/>
          </a:xfrm>
          <a:prstGeom prst="roundRect">
            <a:avLst>
              <a:gd name="adj" fmla="val 9091"/>
            </a:avLst>
          </a:prstGeom>
          <a:solidFill>
            <a:srgbClr val="78361E"/>
          </a:solidFill>
          <a:ln/>
          <a:effectLst>
            <a:outerShdw sx="100000" sy="100000" kx="0" ky="0" algn="bl" rotWithShape="0" blurRad="152400" dist="50800" dir="8100000">
              <a:srgbClr val="21160F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64408" y="1481328"/>
            <a:ext cx="1152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SERP · Competitor · Social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64408" y="1956816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agents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07992" y="1773936"/>
            <a:ext cx="128016" cy="0"/>
          </a:xfrm>
          <a:prstGeom prst="line">
            <a:avLst/>
          </a:prstGeom>
          <a:noFill/>
          <a:ln w="31750">
            <a:solidFill>
              <a:srgbClr val="B4572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72584" y="1389888"/>
            <a:ext cx="1261872" cy="804672"/>
          </a:xfrm>
          <a:prstGeom prst="roundRect">
            <a:avLst>
              <a:gd name="adj" fmla="val 9091"/>
            </a:avLst>
          </a:prstGeom>
          <a:solidFill>
            <a:srgbClr val="5B3B27"/>
          </a:solidFill>
          <a:ln/>
          <a:effectLst>
            <a:outerShdw sx="100000" sy="100000" kx="0" ky="0" algn="bl" rotWithShape="0" blurRad="152400" dist="50800" dir="8100000">
              <a:srgbClr val="21160F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27448" y="1481328"/>
            <a:ext cx="1152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Pulse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27448" y="1956816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71032" y="1773936"/>
            <a:ext cx="128016" cy="0"/>
          </a:xfrm>
          <a:prstGeom prst="line">
            <a:avLst/>
          </a:prstGeom>
          <a:noFill/>
          <a:ln w="31750">
            <a:solidFill>
              <a:srgbClr val="B4572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35624" y="1389888"/>
            <a:ext cx="1261872" cy="804672"/>
          </a:xfrm>
          <a:prstGeom prst="roundRect">
            <a:avLst>
              <a:gd name="adj" fmla="val 9091"/>
            </a:avLst>
          </a:prstGeom>
          <a:solidFill>
            <a:srgbClr val="6F8663"/>
          </a:solidFill>
          <a:ln/>
          <a:effectLst>
            <a:outerShdw sx="100000" sy="100000" kx="0" ky="0" algn="bl" rotWithShape="0" blurRad="152400" dist="50800" dir="8100000">
              <a:srgbClr val="21160F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90488" y="1481328"/>
            <a:ext cx="1152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Agent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90488" y="1956816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434072" y="1773936"/>
            <a:ext cx="128016" cy="0"/>
          </a:xfrm>
          <a:prstGeom prst="line">
            <a:avLst/>
          </a:prstGeom>
          <a:noFill/>
          <a:ln w="31750">
            <a:solidFill>
              <a:srgbClr val="B4572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98664" y="1389888"/>
            <a:ext cx="1261872" cy="804672"/>
          </a:xfrm>
          <a:prstGeom prst="roundRect">
            <a:avLst>
              <a:gd name="adj" fmla="val 9091"/>
            </a:avLst>
          </a:prstGeom>
          <a:solidFill>
            <a:srgbClr val="6F8663"/>
          </a:solidFill>
          <a:ln/>
          <a:effectLst>
            <a:outerShdw sx="100000" sy="100000" kx="0" ky="0" algn="bl" rotWithShape="0" blurRad="152400" dist="50800" dir="8100000">
              <a:srgbClr val="21160F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653528" y="1481328"/>
            <a:ext cx="1152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Brief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653528" y="1956816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2487168"/>
            <a:ext cx="8229600" cy="694944"/>
          </a:xfrm>
          <a:prstGeom prst="roundRect">
            <a:avLst>
              <a:gd name="adj" fmla="val 13158"/>
            </a:avLst>
          </a:prstGeom>
          <a:solidFill>
            <a:srgbClr val="2A1A08"/>
          </a:solidFill>
          <a:ln/>
          <a:effectLst>
            <a:outerShdw sx="100000" sy="100000" kx="0" ky="0" algn="bl" rotWithShape="0" blurRad="152400" dist="50800" dir="8100000">
              <a:srgbClr val="21160F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2487168"/>
            <a:ext cx="54864" cy="694944"/>
          </a:xfrm>
          <a:prstGeom prst="rect">
            <a:avLst/>
          </a:prstGeom>
          <a:solidFill>
            <a:srgbClr val="D59A38"/>
          </a:solidFill>
          <a:ln w="12700">
            <a:solidFill>
              <a:srgbClr val="D59A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2542032"/>
            <a:ext cx="7863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Judge Agent filters 100% of signals. Only those that cross the actionability threshold reach the seller.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457200" y="3401568"/>
            <a:ext cx="4023360" cy="804672"/>
          </a:xfrm>
          <a:prstGeom prst="roundRect">
            <a:avLst>
              <a:gd name="adj" fmla="val 9091"/>
            </a:avLst>
          </a:prstGeom>
          <a:solidFill>
            <a:srgbClr val="FEF6EC"/>
          </a:solidFill>
          <a:ln w="19050">
            <a:solidFill>
              <a:srgbClr val="D4B8A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" y="3538728"/>
            <a:ext cx="347472" cy="347472"/>
          </a:xfrm>
          <a:prstGeom prst="ellipse">
            <a:avLst/>
          </a:prstGeom>
          <a:solidFill>
            <a:srgbClr val="6F8663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3538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7EA"/>
                </a:solidFill>
              </a:rPr>
              <a:t>✓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78992" y="3456432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3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credentials needed for demo — DEMO_MODE=true out of the box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800600" y="3401568"/>
            <a:ext cx="4023360" cy="804672"/>
          </a:xfrm>
          <a:prstGeom prst="roundRect">
            <a:avLst>
              <a:gd name="adj" fmla="val 9091"/>
            </a:avLst>
          </a:prstGeom>
          <a:solidFill>
            <a:srgbClr val="FEF6EC"/>
          </a:solidFill>
          <a:ln w="19050">
            <a:solidFill>
              <a:srgbClr val="D4B8A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83480" y="3538728"/>
            <a:ext cx="347472" cy="347472"/>
          </a:xfrm>
          <a:prstGeom prst="ellipse">
            <a:avLst/>
          </a:prstGeom>
          <a:solidFill>
            <a:srgbClr val="B4572D"/>
          </a:solidFill>
          <a:ln/>
        </p:spPr>
      </p:sp>
      <p:sp>
        <p:nvSpPr>
          <p:cNvPr id="37" name="Text 35"/>
          <p:cNvSpPr/>
          <p:nvPr/>
        </p:nvSpPr>
        <p:spPr>
          <a:xfrm>
            <a:off x="4983480" y="3538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7EA"/>
                </a:solidFill>
              </a:rPr>
              <a:t>⚡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22392" y="3456432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3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Bright Data path available — Web Unlocker + all tool abstractions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57200" y="44074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React/Vite → FastAPI → Scheduler → Agent Pipeline → Bright Data + LLM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1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78361E">
              <a:alpha val="18000"/>
            </a:srgbClr>
          </a:solidFill>
          <a:ln w="12700">
            <a:solidFill>
              <a:srgbClr val="78361E">
                <a:alpha val="1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B45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DATA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7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web data powers every signal.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84048" y="1353312"/>
            <a:ext cx="2633472" cy="347472"/>
          </a:xfrm>
          <a:prstGeom prst="roundRect">
            <a:avLst>
              <a:gd name="adj" fmla="val 18421"/>
            </a:avLst>
          </a:prstGeom>
          <a:solidFill>
            <a:srgbClr val="2A1A08"/>
          </a:solidFill>
          <a:ln w="19050">
            <a:solidFill>
              <a:srgbClr val="7836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399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59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web_data_etsy_products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0" y="1353312"/>
            <a:ext cx="2633472" cy="347472"/>
          </a:xfrm>
          <a:prstGeom prst="roundRect">
            <a:avLst>
              <a:gd name="adj" fmla="val 18421"/>
            </a:avLst>
          </a:prstGeom>
          <a:solidFill>
            <a:srgbClr val="2A1A08"/>
          </a:solidFill>
          <a:ln w="19050">
            <a:solidFill>
              <a:srgbClr val="7836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28416" y="1399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59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search_engine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16752" y="1353312"/>
            <a:ext cx="2633472" cy="347472"/>
          </a:xfrm>
          <a:prstGeom prst="roundRect">
            <a:avLst>
              <a:gd name="adj" fmla="val 18421"/>
            </a:avLst>
          </a:prstGeom>
          <a:solidFill>
            <a:srgbClr val="2A1A08"/>
          </a:solidFill>
          <a:ln w="19050">
            <a:solidFill>
              <a:srgbClr val="7836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44768" y="1399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59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scrape_as_markdown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84048" y="1847088"/>
            <a:ext cx="2633472" cy="347472"/>
          </a:xfrm>
          <a:prstGeom prst="roundRect">
            <a:avLst>
              <a:gd name="adj" fmla="val 18421"/>
            </a:avLst>
          </a:prstGeom>
          <a:solidFill>
            <a:srgbClr val="2A1A08"/>
          </a:solidFill>
          <a:ln w="19050">
            <a:solidFill>
              <a:srgbClr val="7836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18928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59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0" y="1847088"/>
            <a:ext cx="2633472" cy="347472"/>
          </a:xfrm>
          <a:prstGeom prst="roundRect">
            <a:avLst>
              <a:gd name="adj" fmla="val 18421"/>
            </a:avLst>
          </a:prstGeom>
          <a:solidFill>
            <a:srgbClr val="2A1A08"/>
          </a:solidFill>
          <a:ln w="19050">
            <a:solidFill>
              <a:srgbClr val="7836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28416" y="18928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59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scrape_batch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16752" y="1847088"/>
            <a:ext cx="2633472" cy="347472"/>
          </a:xfrm>
          <a:prstGeom prst="roundRect">
            <a:avLst>
              <a:gd name="adj" fmla="val 18421"/>
            </a:avLst>
          </a:prstGeom>
          <a:solidFill>
            <a:srgbClr val="2A1A08"/>
          </a:solidFill>
          <a:ln w="19050">
            <a:solidFill>
              <a:srgbClr val="7836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44768" y="18928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59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web_data_tiktok_posts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84048" y="2340864"/>
            <a:ext cx="2633472" cy="347472"/>
          </a:xfrm>
          <a:prstGeom prst="roundRect">
            <a:avLst>
              <a:gd name="adj" fmla="val 18421"/>
            </a:avLst>
          </a:prstGeom>
          <a:solidFill>
            <a:srgbClr val="2A1A08"/>
          </a:solidFill>
          <a:ln w="19050">
            <a:solidFill>
              <a:srgbClr val="78361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" y="238658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59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web_data_reddit_posts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0" y="2340864"/>
            <a:ext cx="2633472" cy="347472"/>
          </a:xfrm>
          <a:prstGeom prst="roundRect">
            <a:avLst>
              <a:gd name="adj" fmla="val 18421"/>
            </a:avLst>
          </a:prstGeom>
          <a:solidFill>
            <a:srgbClr val="2A1A08"/>
          </a:solidFill>
          <a:ln w="19050">
            <a:solidFill>
              <a:srgbClr val="7836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28416" y="238658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59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web_data_instagram_reels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16752" y="2340864"/>
            <a:ext cx="2633472" cy="347472"/>
          </a:xfrm>
          <a:prstGeom prst="roundRect">
            <a:avLst>
              <a:gd name="adj" fmla="val 18421"/>
            </a:avLst>
          </a:prstGeom>
          <a:solidFill>
            <a:srgbClr val="2A1A08"/>
          </a:solidFill>
          <a:ln w="19050">
            <a:solidFill>
              <a:srgbClr val="78361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44768" y="238658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59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web_data_google_shopping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84048" y="2926080"/>
            <a:ext cx="3931920" cy="1115568"/>
          </a:xfrm>
          <a:prstGeom prst="roundRect">
            <a:avLst>
              <a:gd name="adj" fmla="val 8197"/>
            </a:avLst>
          </a:prstGeom>
          <a:solidFill>
            <a:srgbClr val="201410"/>
          </a:solidFill>
          <a:ln w="25400">
            <a:solidFill>
              <a:srgbClr val="6F8663"/>
            </a:solidFill>
            <a:prstDash val="solid"/>
          </a:ln>
          <a:effectLst>
            <a:outerShdw sx="100000" sy="100000" kx="0" ky="0" algn="bl" rotWithShape="0" blurRad="152400" dist="50800" dir="8100000">
              <a:srgbClr val="21160F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84048" y="2926080"/>
            <a:ext cx="54864" cy="1115568"/>
          </a:xfrm>
          <a:prstGeom prst="rect">
            <a:avLst/>
          </a:prstGeom>
          <a:solidFill>
            <a:srgbClr val="6F8663"/>
          </a:solidFill>
          <a:ln w="12700">
            <a:solidFill>
              <a:srgbClr val="6F866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5216" y="29992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8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Mode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85216" y="331012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cached fixtures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 credentials required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every run is reproducible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08576" y="2926080"/>
            <a:ext cx="3931920" cy="1115568"/>
          </a:xfrm>
          <a:prstGeom prst="roundRect">
            <a:avLst>
              <a:gd name="adj" fmla="val 8197"/>
            </a:avLst>
          </a:prstGeom>
          <a:solidFill>
            <a:srgbClr val="201410"/>
          </a:solidFill>
          <a:ln w="25400">
            <a:solidFill>
              <a:srgbClr val="B4572D"/>
            </a:solidFill>
            <a:prstDash val="solid"/>
          </a:ln>
          <a:effectLst>
            <a:outerShdw sx="100000" sy="100000" kx="0" ky="0" algn="bl" rotWithShape="0" blurRad="152400" dist="50800" dir="8100000">
              <a:srgbClr val="21160F">
                <a:alpha val="1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08576" y="2926080"/>
            <a:ext cx="54864" cy="1115568"/>
          </a:xfrm>
          <a:prstGeom prst="rect">
            <a:avLst/>
          </a:prstGeom>
          <a:solidFill>
            <a:srgbClr val="B4572D"/>
          </a:solidFill>
          <a:ln w="12700">
            <a:solidFill>
              <a:srgbClr val="B457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9744" y="29992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Mode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09744" y="331012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Data Web Unlocker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real markdown scraping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structured product adapters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4315968"/>
            <a:ext cx="9144000" cy="36576"/>
          </a:xfrm>
          <a:prstGeom prst="rect">
            <a:avLst/>
          </a:prstGeom>
          <a:solidFill>
            <a:srgbClr val="78361E"/>
          </a:solidFill>
          <a:ln w="12700">
            <a:solidFill>
              <a:srgbClr val="78361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4074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0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panel shows every call: tool name · latency · cache/live mode · redacted request shape · response summary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7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8361E"/>
          </a:solidFill>
          <a:ln w="12700">
            <a:solidFill>
              <a:srgbClr val="7836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783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PIPELINE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Seven typed agents. One actionable brief.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217920" y="438912"/>
            <a:ext cx="2651760" cy="694944"/>
          </a:xfrm>
          <a:prstGeom prst="roundRect">
            <a:avLst>
              <a:gd name="adj" fmla="val 10526"/>
            </a:avLst>
          </a:prstGeom>
          <a:solidFill>
            <a:srgbClr val="2A1A08"/>
          </a:solidFill>
          <a:ln/>
        </p:spPr>
      </p:sp>
      <p:sp>
        <p:nvSpPr>
          <p:cNvPr id="6" name="Text 4"/>
          <p:cNvSpPr/>
          <p:nvPr/>
        </p:nvSpPr>
        <p:spPr>
          <a:xfrm>
            <a:off x="6263640" y="475488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9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NVIDIA NIM  ·  OpenRouter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9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OpenClaw (optional)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" y="1243584"/>
            <a:ext cx="6400800" cy="457200"/>
          </a:xfrm>
          <a:prstGeom prst="rect">
            <a:avLst/>
          </a:prstGeom>
          <a:solidFill>
            <a:srgbClr val="21160F"/>
          </a:solidFill>
          <a:ln w="12700">
            <a:solidFill>
              <a:srgbClr val="21160F"/>
            </a:solidFill>
            <a:prstDash val="solid"/>
          </a:ln>
          <a:effectLst>
            <a:outerShdw sx="100000" sy="100000" kx="0" ky="0" algn="bl" rotWithShape="0" blurRad="152400" dist="50800" dir="8100000">
              <a:srgbClr val="21160F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243584"/>
            <a:ext cx="45720" cy="457200"/>
          </a:xfrm>
          <a:prstGeom prst="rect">
            <a:avLst/>
          </a:prstGeom>
          <a:solidFill>
            <a:srgbClr val="B4572D"/>
          </a:solidFill>
          <a:ln w="12700">
            <a:solidFill>
              <a:srgbClr val="B457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1353312"/>
            <a:ext cx="246888" cy="246888"/>
          </a:xfrm>
          <a:prstGeom prst="ellipse">
            <a:avLst/>
          </a:prstGeom>
          <a:solidFill>
            <a:srgbClr val="B4572D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35331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41248" y="1280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Bootstrap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1248" y="151790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 listings, seed keywords, and competitors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0" y="1335024"/>
            <a:ext cx="2057400" cy="256032"/>
          </a:xfrm>
          <a:prstGeom prst="roundRect">
            <a:avLst>
              <a:gd name="adj" fmla="val 17857"/>
            </a:avLst>
          </a:prstGeom>
          <a:solidFill>
            <a:srgbClr val="2A1A08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135331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9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etsy_products · scrape_markdown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261872" y="1700784"/>
            <a:ext cx="0" cy="36576"/>
          </a:xfrm>
          <a:prstGeom prst="line">
            <a:avLst/>
          </a:prstGeom>
          <a:noFill/>
          <a:ln w="31750">
            <a:solidFill>
              <a:srgbClr val="B4572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1737360"/>
            <a:ext cx="6400800" cy="457200"/>
          </a:xfrm>
          <a:prstGeom prst="rect">
            <a:avLst/>
          </a:prstGeom>
          <a:solidFill>
            <a:srgbClr val="21160F"/>
          </a:solidFill>
          <a:ln w="12700">
            <a:solidFill>
              <a:srgbClr val="21160F"/>
            </a:solidFill>
            <a:prstDash val="solid"/>
          </a:ln>
          <a:effectLst>
            <a:outerShdw sx="100000" sy="100000" kx="0" ky="0" algn="bl" rotWithShape="0" blurRad="152400" dist="50800" dir="8100000">
              <a:srgbClr val="21160F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7472" y="1737360"/>
            <a:ext cx="45720" cy="457200"/>
          </a:xfrm>
          <a:prstGeom prst="rect">
            <a:avLst/>
          </a:prstGeom>
          <a:solidFill>
            <a:srgbClr val="D59A38"/>
          </a:solidFill>
          <a:ln w="12700">
            <a:solidFill>
              <a:srgbClr val="D59A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" y="1847088"/>
            <a:ext cx="246888" cy="246888"/>
          </a:xfrm>
          <a:prstGeom prst="ellipse">
            <a:avLst/>
          </a:prstGeom>
          <a:solidFill>
            <a:srgbClr val="D59A38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" y="184708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41248" y="17739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/ SERP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1248" y="201168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search intent and SERP position changes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0" y="1828800"/>
            <a:ext cx="2057400" cy="256032"/>
          </a:xfrm>
          <a:prstGeom prst="roundRect">
            <a:avLst>
              <a:gd name="adj" fmla="val 17857"/>
            </a:avLst>
          </a:prstGeom>
          <a:solidFill>
            <a:srgbClr val="2A1A08"/>
          </a:solidFill>
          <a:ln/>
        </p:spPr>
      </p:sp>
      <p:sp>
        <p:nvSpPr>
          <p:cNvPr id="23" name="Text 21"/>
          <p:cNvSpPr/>
          <p:nvPr/>
        </p:nvSpPr>
        <p:spPr>
          <a:xfrm>
            <a:off x="4617720" y="184708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9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search_engine · discover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261872" y="2194560"/>
            <a:ext cx="0" cy="36576"/>
          </a:xfrm>
          <a:prstGeom prst="line">
            <a:avLst/>
          </a:prstGeom>
          <a:noFill/>
          <a:ln w="31750">
            <a:solidFill>
              <a:srgbClr val="B4572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" y="2231136"/>
            <a:ext cx="6400800" cy="457200"/>
          </a:xfrm>
          <a:prstGeom prst="rect">
            <a:avLst/>
          </a:prstGeom>
          <a:solidFill>
            <a:srgbClr val="21160F"/>
          </a:solidFill>
          <a:ln w="12700">
            <a:solidFill>
              <a:srgbClr val="21160F"/>
            </a:solidFill>
            <a:prstDash val="solid"/>
          </a:ln>
          <a:effectLst>
            <a:outerShdw sx="100000" sy="100000" kx="0" ky="0" algn="bl" rotWithShape="0" blurRad="152400" dist="50800" dir="8100000">
              <a:srgbClr val="21160F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7472" y="2231136"/>
            <a:ext cx="45720" cy="457200"/>
          </a:xfrm>
          <a:prstGeom prst="rect">
            <a:avLst/>
          </a:prstGeom>
          <a:solidFill>
            <a:srgbClr val="D59A38"/>
          </a:solidFill>
          <a:ln w="12700">
            <a:solidFill>
              <a:srgbClr val="D59A3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" y="2340864"/>
            <a:ext cx="246888" cy="246888"/>
          </a:xfrm>
          <a:prstGeom prst="ellipse">
            <a:avLst/>
          </a:prstGeom>
          <a:solidFill>
            <a:srgbClr val="D59A38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" y="23408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41248" y="22677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Watch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41248" y="250545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pricing, listings, and positioning shifts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0" y="2322576"/>
            <a:ext cx="2057400" cy="256032"/>
          </a:xfrm>
          <a:prstGeom prst="roundRect">
            <a:avLst>
              <a:gd name="adj" fmla="val 17857"/>
            </a:avLst>
          </a:prstGeom>
          <a:solidFill>
            <a:srgbClr val="2A1A08"/>
          </a:solidFill>
          <a:ln/>
        </p:spPr>
      </p:sp>
      <p:sp>
        <p:nvSpPr>
          <p:cNvPr id="32" name="Text 30"/>
          <p:cNvSpPr/>
          <p:nvPr/>
        </p:nvSpPr>
        <p:spPr>
          <a:xfrm>
            <a:off x="4617720" y="2340864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9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etsy_products · scrape_batch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261872" y="2688336"/>
            <a:ext cx="0" cy="36576"/>
          </a:xfrm>
          <a:prstGeom prst="line">
            <a:avLst/>
          </a:prstGeom>
          <a:noFill/>
          <a:ln w="31750">
            <a:solidFill>
              <a:srgbClr val="B4572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7472" y="2724912"/>
            <a:ext cx="6400800" cy="457200"/>
          </a:xfrm>
          <a:prstGeom prst="rect">
            <a:avLst/>
          </a:prstGeom>
          <a:solidFill>
            <a:srgbClr val="21160F"/>
          </a:solidFill>
          <a:ln w="12700">
            <a:solidFill>
              <a:srgbClr val="21160F"/>
            </a:solidFill>
            <a:prstDash val="solid"/>
          </a:ln>
          <a:effectLst>
            <a:outerShdw sx="100000" sy="100000" kx="0" ky="0" algn="bl" rotWithShape="0" blurRad="152400" dist="50800" dir="8100000">
              <a:srgbClr val="21160F">
                <a:alpha val="14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47472" y="2724912"/>
            <a:ext cx="45720" cy="457200"/>
          </a:xfrm>
          <a:prstGeom prst="rect">
            <a:avLst/>
          </a:prstGeom>
          <a:solidFill>
            <a:srgbClr val="D59A38"/>
          </a:solidFill>
          <a:ln w="12700">
            <a:solidFill>
              <a:srgbClr val="D59A3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" y="2834640"/>
            <a:ext cx="246888" cy="246888"/>
          </a:xfrm>
          <a:prstGeom prst="ellipse">
            <a:avLst/>
          </a:prstGeom>
          <a:solidFill>
            <a:srgbClr val="D59A38"/>
          </a:solidFill>
          <a:ln/>
        </p:spPr>
      </p:sp>
      <p:sp>
        <p:nvSpPr>
          <p:cNvPr id="37" name="Text 35"/>
          <p:cNvSpPr/>
          <p:nvPr/>
        </p:nvSpPr>
        <p:spPr>
          <a:xfrm>
            <a:off x="475488" y="283464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41248" y="27614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Scout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41248" y="299923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TikTok, Reddit, Instagram, Google Shopping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0" y="2816352"/>
            <a:ext cx="2057400" cy="256032"/>
          </a:xfrm>
          <a:prstGeom prst="roundRect">
            <a:avLst>
              <a:gd name="adj" fmla="val 17857"/>
            </a:avLst>
          </a:prstGeom>
          <a:solidFill>
            <a:srgbClr val="2A1A08"/>
          </a:solidFill>
          <a:ln/>
        </p:spPr>
      </p:sp>
      <p:sp>
        <p:nvSpPr>
          <p:cNvPr id="41" name="Text 39"/>
          <p:cNvSpPr/>
          <p:nvPr/>
        </p:nvSpPr>
        <p:spPr>
          <a:xfrm>
            <a:off x="4617720" y="2834640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9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tiktok · reddit · instagram · shopping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261872" y="3182112"/>
            <a:ext cx="0" cy="36576"/>
          </a:xfrm>
          <a:prstGeom prst="line">
            <a:avLst/>
          </a:prstGeom>
          <a:noFill/>
          <a:ln w="31750">
            <a:solidFill>
              <a:srgbClr val="B4572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47472" y="3218688"/>
            <a:ext cx="6400800" cy="457200"/>
          </a:xfrm>
          <a:prstGeom prst="rect">
            <a:avLst/>
          </a:prstGeom>
          <a:solidFill>
            <a:srgbClr val="21160F"/>
          </a:solidFill>
          <a:ln w="12700">
            <a:solidFill>
              <a:srgbClr val="21160F"/>
            </a:solidFill>
            <a:prstDash val="solid"/>
          </a:ln>
          <a:effectLst>
            <a:outerShdw sx="100000" sy="100000" kx="0" ky="0" algn="bl" rotWithShape="0" blurRad="152400" dist="50800" dir="8100000">
              <a:srgbClr val="21160F">
                <a:alpha val="14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47472" y="3218688"/>
            <a:ext cx="45720" cy="457200"/>
          </a:xfrm>
          <a:prstGeom prst="rect">
            <a:avLst/>
          </a:prstGeom>
          <a:solidFill>
            <a:srgbClr val="5B3B27"/>
          </a:solidFill>
          <a:ln w="12700">
            <a:solidFill>
              <a:srgbClr val="5B3B2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5488" y="3328416"/>
            <a:ext cx="246888" cy="246888"/>
          </a:xfrm>
          <a:prstGeom prst="ellipse">
            <a:avLst/>
          </a:prstGeom>
          <a:solidFill>
            <a:srgbClr val="5B3B27"/>
          </a:solidFill>
          <a:ln/>
        </p:spPr>
      </p:sp>
      <p:sp>
        <p:nvSpPr>
          <p:cNvPr id="46" name="Text 44"/>
          <p:cNvSpPr/>
          <p:nvPr/>
        </p:nvSpPr>
        <p:spPr>
          <a:xfrm>
            <a:off x="475488" y="332841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41248" y="32552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Pulse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41248" y="34930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Normalizes and deduplicates signals into market events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1261872" y="3675888"/>
            <a:ext cx="0" cy="36576"/>
          </a:xfrm>
          <a:prstGeom prst="line">
            <a:avLst/>
          </a:prstGeom>
          <a:noFill/>
          <a:ln w="31750">
            <a:solidFill>
              <a:srgbClr val="B4572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47472" y="3712464"/>
            <a:ext cx="6400800" cy="457200"/>
          </a:xfrm>
          <a:prstGeom prst="rect">
            <a:avLst/>
          </a:prstGeom>
          <a:solidFill>
            <a:srgbClr val="21160F"/>
          </a:solidFill>
          <a:ln w="12700">
            <a:solidFill>
              <a:srgbClr val="21160F"/>
            </a:solidFill>
            <a:prstDash val="solid"/>
          </a:ln>
          <a:effectLst>
            <a:outerShdw sx="100000" sy="100000" kx="0" ky="0" algn="bl" rotWithShape="0" blurRad="152400" dist="50800" dir="8100000">
              <a:srgbClr val="21160F">
                <a:alpha val="14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47472" y="3712464"/>
            <a:ext cx="45720" cy="457200"/>
          </a:xfrm>
          <a:prstGeom prst="rect">
            <a:avLst/>
          </a:prstGeom>
          <a:solidFill>
            <a:srgbClr val="6F8663"/>
          </a:solidFill>
          <a:ln w="12700">
            <a:solidFill>
              <a:srgbClr val="6F866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75488" y="3822192"/>
            <a:ext cx="246888" cy="246888"/>
          </a:xfrm>
          <a:prstGeom prst="ellipse">
            <a:avLst/>
          </a:prstGeom>
          <a:solidFill>
            <a:srgbClr val="6F8663"/>
          </a:solidFill>
          <a:ln/>
        </p:spPr>
      </p:sp>
      <p:sp>
        <p:nvSpPr>
          <p:cNvPr id="53" name="Text 51"/>
          <p:cNvSpPr/>
          <p:nvPr/>
        </p:nvSpPr>
        <p:spPr>
          <a:xfrm>
            <a:off x="475488" y="382219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41248" y="3749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Agent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841248" y="398678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Scores: actionability · urgency · confidence · novelty · evidence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1261872" y="4169664"/>
            <a:ext cx="0" cy="36576"/>
          </a:xfrm>
          <a:prstGeom prst="line">
            <a:avLst/>
          </a:prstGeom>
          <a:noFill/>
          <a:ln w="31750">
            <a:solidFill>
              <a:srgbClr val="B4572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47472" y="4206240"/>
            <a:ext cx="6400800" cy="457200"/>
          </a:xfrm>
          <a:prstGeom prst="rect">
            <a:avLst/>
          </a:prstGeom>
          <a:solidFill>
            <a:srgbClr val="21160F"/>
          </a:solidFill>
          <a:ln w="12700">
            <a:solidFill>
              <a:srgbClr val="21160F"/>
            </a:solidFill>
            <a:prstDash val="solid"/>
          </a:ln>
          <a:effectLst>
            <a:outerShdw sx="100000" sy="100000" kx="0" ky="0" algn="bl" rotWithShape="0" blurRad="152400" dist="50800" dir="8100000">
              <a:srgbClr val="21160F">
                <a:alpha val="14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347472" y="4206240"/>
            <a:ext cx="45720" cy="457200"/>
          </a:xfrm>
          <a:prstGeom prst="rect">
            <a:avLst/>
          </a:prstGeom>
          <a:solidFill>
            <a:srgbClr val="B4572D"/>
          </a:solidFill>
          <a:ln w="12700">
            <a:solidFill>
              <a:srgbClr val="B4572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5488" y="4315968"/>
            <a:ext cx="246888" cy="246888"/>
          </a:xfrm>
          <a:prstGeom prst="ellipse">
            <a:avLst/>
          </a:prstGeom>
          <a:solidFill>
            <a:srgbClr val="B4572D"/>
          </a:solidFill>
          <a:ln/>
        </p:spPr>
      </p:sp>
      <p:sp>
        <p:nvSpPr>
          <p:cNvPr id="60" name="Text 58"/>
          <p:cNvSpPr/>
          <p:nvPr/>
        </p:nvSpPr>
        <p:spPr>
          <a:xfrm>
            <a:off x="475488" y="431596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841248" y="42428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Delivery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841248" y="44805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seller-ready action with evidence and why-now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E2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4572D"/>
          </a:solidFill>
          <a:ln w="12700">
            <a:solidFill>
              <a:srgbClr val="B457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B45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dashboard that tells the story in 30 seconds.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1261872"/>
            <a:ext cx="4114800" cy="2560320"/>
          </a:xfrm>
          <a:prstGeom prst="rect">
            <a:avLst/>
          </a:prstGeom>
          <a:solidFill>
            <a:srgbClr val="FFF7EA"/>
          </a:solidFill>
          <a:ln w="12700">
            <a:solidFill>
              <a:srgbClr val="D4B8A0"/>
            </a:solidFill>
            <a:prstDash val="solid"/>
          </a:ln>
          <a:effectLst>
            <a:outerShdw sx="100000" sy="100000" kx="0" ky="0" algn="bl" rotWithShape="0" blurRad="152400" dist="50800" dir="8100000">
              <a:srgbClr val="21160F">
                <a:alpha val="14000"/>
              </a:srgbClr>
            </a:outerShdw>
          </a:effectLst>
        </p:spPr>
      </p:sp>
      <p:pic>
        <p:nvPicPr>
          <p:cNvPr id="6" name="Image 0" descr="/mnt/d/2026/HackathonProjects/BrightData/ChatGPT-ContextFiles/etsypulse-simple-claude/docs/submission/screenshots/02-shop-bootstr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47472" y="1261872"/>
            <a:ext cx="4114800" cy="2560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7472" y="393192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URL. Instant shop intelligence profile.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47472" y="427939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profile · 7-agent metric strip · Workflow ribbon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828032" y="1261872"/>
            <a:ext cx="4114800" cy="2560320"/>
          </a:xfrm>
          <a:prstGeom prst="rect">
            <a:avLst/>
          </a:prstGeom>
          <a:solidFill>
            <a:srgbClr val="FFF7EA"/>
          </a:solidFill>
          <a:ln w="12700">
            <a:solidFill>
              <a:srgbClr val="D4B8A0"/>
            </a:solidFill>
            <a:prstDash val="solid"/>
          </a:ln>
          <a:effectLst>
            <a:outerShdw sx="100000" sy="100000" kx="0" ky="0" algn="bl" rotWithShape="0" blurRad="152400" dist="50800" dir="8100000">
              <a:srgbClr val="21160F">
                <a:alpha val="14000"/>
              </a:srgbClr>
            </a:outerShdw>
          </a:effectLst>
        </p:spPr>
      </p:sp>
      <p:pic>
        <p:nvPicPr>
          <p:cNvPr id="10" name="Image 1" descr="/mnt/d/2026/HackathonProjects/BrightData/ChatGPT-ContextFiles/etsypulse-simple-claude/docs/submission/screenshots/05-judge-brief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28032" y="1261872"/>
            <a:ext cx="4114800" cy="2560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28032" y="393192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actionable signals become briefs.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828032" y="427939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scores · Recommended actions · Evidence · Why-now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21160F"/>
          </a:solidFill>
          <a:ln/>
        </p:spPr>
      </p:sp>
      <p:sp>
        <p:nvSpPr>
          <p:cNvPr id="14" name="Text 10"/>
          <p:cNvSpPr/>
          <p:nvPr/>
        </p:nvSpPr>
        <p:spPr>
          <a:xfrm>
            <a:off x="457200" y="4773168"/>
            <a:ext cx="82296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live at etsypulse.vercel.app  ·  DEMO_MODE=true  ·  No credentials required  ·  48 tests passing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7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59A38"/>
          </a:solidFill>
          <a:ln w="12700">
            <a:solidFill>
              <a:srgbClr val="D59A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D59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21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$1.28B addressable market with proven willingness to pay.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47472" y="1298448"/>
            <a:ext cx="4023360" cy="1234440"/>
          </a:xfrm>
          <a:prstGeom prst="rect">
            <a:avLst/>
          </a:prstGeom>
          <a:solidFill>
            <a:srgbClr val="21160F"/>
          </a:solidFill>
          <a:ln/>
          <a:effectLst>
            <a:outerShdw sx="100000" sy="100000" kx="0" ky="0" algn="bl" rotWithShape="0" blurRad="152400" dist="50800" dir="8100000">
              <a:srgbClr val="21160F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298448"/>
            <a:ext cx="4023360" cy="45720"/>
          </a:xfrm>
          <a:prstGeom prst="rect">
            <a:avLst/>
          </a:prstGeom>
          <a:solidFill>
            <a:srgbClr val="D59A38"/>
          </a:solidFill>
          <a:ln w="12700">
            <a:solidFill>
              <a:srgbClr val="D59A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7160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D59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5.6M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48640" y="2029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Etsy marketplace sellers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31343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of December 31, 2025 (Etsy 10-K)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298448"/>
            <a:ext cx="4023360" cy="1234440"/>
          </a:xfrm>
          <a:prstGeom prst="rect">
            <a:avLst/>
          </a:prstGeom>
          <a:solidFill>
            <a:srgbClr val="21160F"/>
          </a:solidFill>
          <a:ln/>
          <a:effectLst>
            <a:outerShdw sx="100000" sy="100000" kx="0" ky="0" algn="bl" rotWithShape="0" blurRad="152400" dist="50800" dir="8100000">
              <a:srgbClr val="21160F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298448"/>
            <a:ext cx="4023360" cy="45720"/>
          </a:xfrm>
          <a:prstGeom prst="rect">
            <a:avLst/>
          </a:prstGeom>
          <a:solidFill>
            <a:srgbClr val="D59A38"/>
          </a:solidFill>
          <a:ln w="12700">
            <a:solidFill>
              <a:srgbClr val="D59A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56048" y="137160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D59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$876M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4956048" y="2029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Etsy services revenue 2025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56048" y="231343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already pay for growth tools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" y="2697480"/>
            <a:ext cx="4023360" cy="1261872"/>
          </a:xfrm>
          <a:prstGeom prst="roundRect">
            <a:avLst>
              <a:gd name="adj" fmla="val 5797"/>
            </a:avLst>
          </a:prstGeom>
          <a:solidFill>
            <a:srgbClr val="FEF6EC"/>
          </a:solidFill>
          <a:ln w="19050">
            <a:solidFill>
              <a:srgbClr val="D4B8A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2697480"/>
            <a:ext cx="54864" cy="1261872"/>
          </a:xfrm>
          <a:prstGeom prst="rect">
            <a:avLst/>
          </a:prstGeom>
          <a:solidFill>
            <a:srgbClr val="B4572D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" y="27706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 →  $1.28B ARR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0352" y="30632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3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5.6M sellers × $19/month subscription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30352" y="33467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 →  $191M–$319M ARR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0352" y="36301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3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15–25% of sellers already paying for growth tools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0" y="2697480"/>
            <a:ext cx="4206240" cy="1261872"/>
          </a:xfrm>
          <a:prstGeom prst="roundRect">
            <a:avLst>
              <a:gd name="adj" fmla="val 5797"/>
            </a:avLst>
          </a:prstGeom>
          <a:solidFill>
            <a:srgbClr val="FEF6EC"/>
          </a:solidFill>
          <a:ln w="19050">
            <a:solidFill>
              <a:srgbClr val="D4B8A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2697480"/>
            <a:ext cx="54864" cy="1261872"/>
          </a:xfrm>
          <a:prstGeom prst="rect">
            <a:avLst/>
          </a:prstGeom>
          <a:solidFill>
            <a:srgbClr val="6F8663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27614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Seller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99632" y="27614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$19–29/mo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50608" y="27614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shop, daily monitoring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54880" y="314553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Seller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99632" y="31455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$49–99/mo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50608" y="314553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Multi-shop, live mode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54880" y="352958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99632" y="35295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$199+/mo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150608" y="352958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shops, white-label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0" y="4224528"/>
            <a:ext cx="9144000" cy="36576"/>
          </a:xfrm>
          <a:prstGeom prst="rect">
            <a:avLst/>
          </a:prstGeom>
          <a:solidFill>
            <a:srgbClr val="78361E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3159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783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eRank, Marmalead, EverBee give dashboards.  EtsyPulse gives decisions.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7200" y="47548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Etsy Inc. Fourth Quarter and Full Year 2025 Results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1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4572D"/>
          </a:solidFill>
          <a:ln w="12700">
            <a:solidFill>
              <a:srgbClr val="B457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B45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7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the hackathon. Designed for production.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1316736"/>
            <a:ext cx="2651760" cy="402336"/>
          </a:xfrm>
          <a:prstGeom prst="roundRect">
            <a:avLst>
              <a:gd name="adj" fmla="val 18182"/>
            </a:avLst>
          </a:prstGeom>
          <a:solidFill>
            <a:srgbClr val="6F8663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131673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1847088"/>
            <a:ext cx="2651760" cy="384048"/>
          </a:xfrm>
          <a:prstGeom prst="rect">
            <a:avLst/>
          </a:prstGeom>
          <a:solidFill>
            <a:srgbClr val="2A1A08"/>
          </a:solidFill>
          <a:ln w="12700">
            <a:solidFill>
              <a:srgbClr val="38260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847088"/>
            <a:ext cx="36576" cy="384048"/>
          </a:xfrm>
          <a:prstGeom prst="rect">
            <a:avLst/>
          </a:prstGeom>
          <a:solidFill>
            <a:srgbClr val="6F8663"/>
          </a:solidFill>
          <a:ln w="12700">
            <a:solidFill>
              <a:srgbClr val="6F86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88366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Vercel + Render deployment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7472" y="2304288"/>
            <a:ext cx="2651760" cy="384048"/>
          </a:xfrm>
          <a:prstGeom prst="rect">
            <a:avLst/>
          </a:prstGeom>
          <a:solidFill>
            <a:srgbClr val="2A1A08"/>
          </a:solidFill>
          <a:ln w="12700">
            <a:solidFill>
              <a:srgbClr val="38260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2304288"/>
            <a:ext cx="36576" cy="384048"/>
          </a:xfrm>
          <a:prstGeom prst="rect">
            <a:avLst/>
          </a:prstGeom>
          <a:solidFill>
            <a:srgbClr val="6F8663"/>
          </a:solidFill>
          <a:ln w="12700">
            <a:solidFill>
              <a:srgbClr val="6F86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234086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7-agent demo pipeline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7472" y="2761488"/>
            <a:ext cx="2651760" cy="384048"/>
          </a:xfrm>
          <a:prstGeom prst="rect">
            <a:avLst/>
          </a:prstGeom>
          <a:solidFill>
            <a:srgbClr val="2A1A08"/>
          </a:solidFill>
          <a:ln w="12700">
            <a:solidFill>
              <a:srgbClr val="38260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" y="2761488"/>
            <a:ext cx="36576" cy="384048"/>
          </a:xfrm>
          <a:prstGeom prst="rect">
            <a:avLst/>
          </a:prstGeom>
          <a:solidFill>
            <a:srgbClr val="6F8663"/>
          </a:solidFill>
          <a:ln w="12700">
            <a:solidFill>
              <a:srgbClr val="6F86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279806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Data Web Unlocker live path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7472" y="3218688"/>
            <a:ext cx="2651760" cy="384048"/>
          </a:xfrm>
          <a:prstGeom prst="rect">
            <a:avLst/>
          </a:prstGeom>
          <a:solidFill>
            <a:srgbClr val="2A1A08"/>
          </a:solidFill>
          <a:ln w="12700">
            <a:solidFill>
              <a:srgbClr val="38260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3218688"/>
            <a:ext cx="36576" cy="384048"/>
          </a:xfrm>
          <a:prstGeom prst="rect">
            <a:avLst/>
          </a:prstGeom>
          <a:solidFill>
            <a:srgbClr val="6F8663"/>
          </a:solidFill>
          <a:ln w="12700">
            <a:solidFill>
              <a:srgbClr val="6F86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" y="325526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Agent with NVIDIA NIM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47472" y="3675888"/>
            <a:ext cx="2651760" cy="384048"/>
          </a:xfrm>
          <a:prstGeom prst="rect">
            <a:avLst/>
          </a:prstGeom>
          <a:solidFill>
            <a:srgbClr val="2A1A08"/>
          </a:solidFill>
          <a:ln w="12700">
            <a:solidFill>
              <a:srgbClr val="38260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3675888"/>
            <a:ext cx="36576" cy="384048"/>
          </a:xfrm>
          <a:prstGeom prst="rect">
            <a:avLst/>
          </a:prstGeom>
          <a:solidFill>
            <a:srgbClr val="6F8663"/>
          </a:solidFill>
          <a:ln w="12700">
            <a:solidFill>
              <a:srgbClr val="6F866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" y="371246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backend tests passing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0" y="1316736"/>
            <a:ext cx="2651760" cy="402336"/>
          </a:xfrm>
          <a:prstGeom prst="roundRect">
            <a:avLst>
              <a:gd name="adj" fmla="val 18182"/>
            </a:avLst>
          </a:prstGeom>
          <a:solidFill>
            <a:srgbClr val="D59A38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0" y="131673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TERM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0" y="1847088"/>
            <a:ext cx="2651760" cy="384048"/>
          </a:xfrm>
          <a:prstGeom prst="rect">
            <a:avLst/>
          </a:prstGeom>
          <a:solidFill>
            <a:srgbClr val="2A1A08"/>
          </a:solidFill>
          <a:ln w="12700">
            <a:solidFill>
              <a:srgbClr val="38260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1847088"/>
            <a:ext cx="36576" cy="384048"/>
          </a:xfrm>
          <a:prstGeom prst="rect">
            <a:avLst/>
          </a:prstGeom>
          <a:solidFill>
            <a:srgbClr val="D59A38"/>
          </a:solidFill>
          <a:ln w="12700">
            <a:solidFill>
              <a:srgbClr val="D59A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64992" y="188366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BD adapters for all tools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0" y="2304288"/>
            <a:ext cx="2651760" cy="384048"/>
          </a:xfrm>
          <a:prstGeom prst="rect">
            <a:avLst/>
          </a:prstGeom>
          <a:solidFill>
            <a:srgbClr val="2A1A08"/>
          </a:solidFill>
          <a:ln w="12700">
            <a:solidFill>
              <a:srgbClr val="38260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2304288"/>
            <a:ext cx="36576" cy="384048"/>
          </a:xfrm>
          <a:prstGeom prst="rect">
            <a:avLst/>
          </a:prstGeom>
          <a:solidFill>
            <a:srgbClr val="D59A38"/>
          </a:solidFill>
          <a:ln w="12700">
            <a:solidFill>
              <a:srgbClr val="D59A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64992" y="234086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Slack / OpenClaw notifications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00400" y="2761488"/>
            <a:ext cx="2651760" cy="384048"/>
          </a:xfrm>
          <a:prstGeom prst="rect">
            <a:avLst/>
          </a:prstGeom>
          <a:solidFill>
            <a:srgbClr val="2A1A08"/>
          </a:solidFill>
          <a:ln w="12700">
            <a:solidFill>
              <a:srgbClr val="38260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0" y="2761488"/>
            <a:ext cx="36576" cy="384048"/>
          </a:xfrm>
          <a:prstGeom prst="rect">
            <a:avLst/>
          </a:prstGeom>
          <a:solidFill>
            <a:srgbClr val="D59A38"/>
          </a:solidFill>
          <a:ln w="12700">
            <a:solidFill>
              <a:srgbClr val="D59A3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64992" y="279806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demo test suite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00400" y="3218688"/>
            <a:ext cx="2651760" cy="384048"/>
          </a:xfrm>
          <a:prstGeom prst="rect">
            <a:avLst/>
          </a:prstGeom>
          <a:solidFill>
            <a:srgbClr val="2A1A08"/>
          </a:solidFill>
          <a:ln w="12700">
            <a:solidFill>
              <a:srgbClr val="38260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0" y="3218688"/>
            <a:ext cx="36576" cy="384048"/>
          </a:xfrm>
          <a:prstGeom prst="rect">
            <a:avLst/>
          </a:prstGeom>
          <a:solidFill>
            <a:srgbClr val="D59A38"/>
          </a:solidFill>
          <a:ln w="12700">
            <a:solidFill>
              <a:srgbClr val="D59A3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64992" y="325526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brief feedback loop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200400" y="3675888"/>
            <a:ext cx="2651760" cy="384048"/>
          </a:xfrm>
          <a:prstGeom prst="rect">
            <a:avLst/>
          </a:prstGeom>
          <a:solidFill>
            <a:srgbClr val="2A1A08"/>
          </a:solidFill>
          <a:ln w="12700">
            <a:solidFill>
              <a:srgbClr val="38260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0" y="3675888"/>
            <a:ext cx="36576" cy="384048"/>
          </a:xfrm>
          <a:prstGeom prst="rect">
            <a:avLst/>
          </a:prstGeom>
          <a:solidFill>
            <a:srgbClr val="D59A38"/>
          </a:solidFill>
          <a:ln w="12700">
            <a:solidFill>
              <a:srgbClr val="D59A3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64992" y="371246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 &amp; seasonal opportunity packs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053328" y="1316736"/>
            <a:ext cx="2651760" cy="402336"/>
          </a:xfrm>
          <a:prstGeom prst="roundRect">
            <a:avLst>
              <a:gd name="adj" fmla="val 18182"/>
            </a:avLst>
          </a:prstGeom>
          <a:solidFill>
            <a:srgbClr val="B4572D"/>
          </a:solidFill>
          <a:ln/>
        </p:spPr>
      </p:sp>
      <p:sp>
        <p:nvSpPr>
          <p:cNvPr id="40" name="Text 38"/>
          <p:cNvSpPr/>
          <p:nvPr/>
        </p:nvSpPr>
        <p:spPr>
          <a:xfrm>
            <a:off x="6053328" y="131673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053328" y="1847088"/>
            <a:ext cx="2651760" cy="384048"/>
          </a:xfrm>
          <a:prstGeom prst="rect">
            <a:avLst/>
          </a:prstGeom>
          <a:solidFill>
            <a:srgbClr val="2A1A08"/>
          </a:solidFill>
          <a:ln w="12700">
            <a:solidFill>
              <a:srgbClr val="38260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53328" y="1847088"/>
            <a:ext cx="36576" cy="384048"/>
          </a:xfrm>
          <a:prstGeom prst="rect">
            <a:avLst/>
          </a:prstGeom>
          <a:solidFill>
            <a:srgbClr val="B4572D"/>
          </a:solidFill>
          <a:ln w="12700">
            <a:solidFill>
              <a:srgbClr val="B4572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0" y="188366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Shopify, Amazon, Faire, Depop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053328" y="2304288"/>
            <a:ext cx="2651760" cy="384048"/>
          </a:xfrm>
          <a:prstGeom prst="rect">
            <a:avLst/>
          </a:prstGeom>
          <a:solidFill>
            <a:srgbClr val="2A1A08"/>
          </a:solidFill>
          <a:ln w="12700">
            <a:solidFill>
              <a:srgbClr val="38260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53328" y="2304288"/>
            <a:ext cx="36576" cy="384048"/>
          </a:xfrm>
          <a:prstGeom prst="rect">
            <a:avLst/>
          </a:prstGeom>
          <a:solidFill>
            <a:srgbClr val="B4572D"/>
          </a:solidFill>
          <a:ln w="12700">
            <a:solidFill>
              <a:srgbClr val="B4572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17920" y="234086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Multi-shop agency dashboard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053328" y="2761488"/>
            <a:ext cx="2651760" cy="384048"/>
          </a:xfrm>
          <a:prstGeom prst="rect">
            <a:avLst/>
          </a:prstGeom>
          <a:solidFill>
            <a:srgbClr val="2A1A08"/>
          </a:solidFill>
          <a:ln w="12700">
            <a:solidFill>
              <a:srgbClr val="38260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053328" y="2761488"/>
            <a:ext cx="36576" cy="384048"/>
          </a:xfrm>
          <a:prstGeom prst="rect">
            <a:avLst/>
          </a:prstGeom>
          <a:solidFill>
            <a:srgbClr val="B4572D"/>
          </a:solidFill>
          <a:ln w="12700">
            <a:solidFill>
              <a:srgbClr val="B4572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17920" y="279806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trend + experiment tracking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053328" y="3218688"/>
            <a:ext cx="2651760" cy="384048"/>
          </a:xfrm>
          <a:prstGeom prst="rect">
            <a:avLst/>
          </a:prstGeom>
          <a:solidFill>
            <a:srgbClr val="2A1A08"/>
          </a:solidFill>
          <a:ln w="12700">
            <a:solidFill>
              <a:srgbClr val="38260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053328" y="3218688"/>
            <a:ext cx="36576" cy="384048"/>
          </a:xfrm>
          <a:prstGeom prst="rect">
            <a:avLst/>
          </a:prstGeom>
          <a:solidFill>
            <a:srgbClr val="B4572D"/>
          </a:solidFill>
          <a:ln w="12700">
            <a:solidFill>
              <a:srgbClr val="B4572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17920" y="325526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agentToAgent coordination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053328" y="3675888"/>
            <a:ext cx="2651760" cy="384048"/>
          </a:xfrm>
          <a:prstGeom prst="rect">
            <a:avLst/>
          </a:prstGeom>
          <a:solidFill>
            <a:srgbClr val="2A1A08"/>
          </a:solidFill>
          <a:ln w="12700">
            <a:solidFill>
              <a:srgbClr val="38260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053328" y="3675888"/>
            <a:ext cx="36576" cy="384048"/>
          </a:xfrm>
          <a:prstGeom prst="rect">
            <a:avLst/>
          </a:prstGeom>
          <a:solidFill>
            <a:srgbClr val="B4572D"/>
          </a:solidFill>
          <a:ln w="12700">
            <a:solidFill>
              <a:srgbClr val="B4572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17920" y="371246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subscription launch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347472" y="4315968"/>
            <a:ext cx="8449056" cy="438912"/>
          </a:xfrm>
          <a:prstGeom prst="roundRect">
            <a:avLst>
              <a:gd name="adj" fmla="val 16667"/>
            </a:avLst>
          </a:prstGeom>
          <a:solidFill>
            <a:srgbClr val="2A1A08"/>
          </a:solidFill>
          <a:ln w="12700">
            <a:solidFill>
              <a:srgbClr val="B4572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2920" y="437083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7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EtsyPulse is the market intelligence layer small ecommerce sellers have always needed.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457200" y="48280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ZachDolph/etsypulse  ·  Demo: etsypulse.vercel.app  ·  Powered by Bright Data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EtsyPulse — Autonomous Market Intelligence for Etsy Sellers</dc:title>
  <dc:subject>PptxGenJS Presentation</dc:subject>
  <dc:creator>EtsyPulse</dc:creator>
  <cp:lastModifiedBy>EtsyPulse</cp:lastModifiedBy>
  <cp:revision>1</cp:revision>
  <dcterms:created xsi:type="dcterms:W3CDTF">2026-05-30T10:58:34Z</dcterms:created>
  <dcterms:modified xsi:type="dcterms:W3CDTF">2026-05-30T10:58:34Z</dcterms:modified>
</cp:coreProperties>
</file>